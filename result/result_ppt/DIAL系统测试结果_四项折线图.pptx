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B7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9768" y="210312"/>
            <a:ext cx="384048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2B70B0"/>
                </a:solidFill>
                <a:latin typeface="WenQuanYi Zen Hei"/>
              </a:rPr>
              <a:t>01  视频连续帧优化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484632"/>
            <a:ext cx="1115568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F374F"/>
                </a:solidFill>
                <a:latin typeface="WenQuanYi Zen Hei"/>
              </a:rPr>
              <a:t>视频帧复用显著降低首 token 延迟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1097280"/>
            <a:ext cx="7790688" cy="4956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复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6602"/>
            <a:ext cx="7662672" cy="439740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39912" y="1097280"/>
            <a:ext cx="3401568" cy="495604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68512" y="1353312"/>
            <a:ext cx="2944368" cy="932688"/>
          </a:xfrm>
          <a:prstGeom prst="roundRect">
            <a:avLst/>
          </a:prstGeom>
          <a:solidFill>
            <a:srgbClr val="2B7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51392" y="1389888"/>
            <a:ext cx="2578608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WenQuanYi Zen Hei"/>
              </a:rPr>
              <a:t>约 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1392" y="1828800"/>
            <a:ext cx="2578608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WenQuanYi Zen Hei"/>
              </a:rPr>
              <a:t>平均 TTFT 降幅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0" y="2578608"/>
            <a:ext cx="109728" cy="109728"/>
          </a:xfrm>
          <a:prstGeom prst="ellipse">
            <a:avLst/>
          </a:prstGeom>
          <a:solidFill>
            <a:srgbClr val="2B7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87968" y="2532888"/>
            <a:ext cx="25603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F374F"/>
                </a:solidFill>
                <a:latin typeface="WenQuanYi Zen Hei"/>
              </a:rPr>
              <a:t>稳定收益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7968" y="2807208"/>
            <a:ext cx="25603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8525E"/>
                </a:solidFill>
                <a:latin typeface="WenQuanYi Zen Hei"/>
              </a:rPr>
              <a:t>4 组测试中，复用后 TTFT 均下降 44%–61%。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0" y="3602736"/>
            <a:ext cx="109728" cy="109728"/>
          </a:xfrm>
          <a:prstGeom prst="ellipse">
            <a:avLst/>
          </a:prstGeom>
          <a:solidFill>
            <a:srgbClr val="2B7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87968" y="3557016"/>
            <a:ext cx="25603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F374F"/>
                </a:solidFill>
                <a:latin typeface="WenQuanYi Zen Hei"/>
              </a:rPr>
              <a:t>绝对改善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7968" y="3831336"/>
            <a:ext cx="25603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8525E"/>
                </a:solidFill>
                <a:latin typeface="WenQuanYi Zen Hei"/>
              </a:rPr>
              <a:t>平均由 5.75 s 降至 2.87 s，节省约 2.88 s。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0" y="4626864"/>
            <a:ext cx="109728" cy="109728"/>
          </a:xfrm>
          <a:prstGeom prst="ellipse">
            <a:avLst/>
          </a:prstGeom>
          <a:solidFill>
            <a:srgbClr val="2B7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87968" y="4581144"/>
            <a:ext cx="25603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F374F"/>
                </a:solidFill>
                <a:latin typeface="WenQuanYi Zen Hei"/>
              </a:rPr>
              <a:t>趋势判断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7968" y="4855464"/>
            <a:ext cx="25603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8525E"/>
                </a:solidFill>
                <a:latin typeface="WenQuanYi Zen Hei"/>
              </a:rPr>
              <a:t>执行层数增加时收益仍然存在，但相对降幅有所收窄。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" y="6236208"/>
            <a:ext cx="11448288" cy="38404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6263640"/>
            <a:ext cx="1101852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F374F"/>
                </a:solidFill>
                <a:latin typeface="WenQuanYi Zen Hei"/>
              </a:rPr>
              <a:t>部署建议：连续视频流优先复用视觉帧特征，避免重复视觉编码。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9768" y="210312"/>
            <a:ext cx="384048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D7D31"/>
                </a:solidFill>
                <a:latin typeface="WenQuanYi Zen Hei"/>
              </a:rPr>
              <a:t>02  文本子图量化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484632"/>
            <a:ext cx="1115568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F374F"/>
                </a:solidFill>
                <a:latin typeface="WenQuanYi Zen Hei"/>
              </a:rPr>
              <a:t>组合量化增强多层卸载下的吞吐稳定性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1097280"/>
            <a:ext cx="7790688" cy="4956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量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33481"/>
            <a:ext cx="7662672" cy="448364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39912" y="1097280"/>
            <a:ext cx="3401568" cy="495604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68512" y="1353312"/>
            <a:ext cx="2944368" cy="932688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51392" y="1389888"/>
            <a:ext cx="2578608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WenQuanYi Zen Hei"/>
              </a:rPr>
              <a:t>+35.4%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1392" y="1828800"/>
            <a:ext cx="2578608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WenQuanYi Zen Hei"/>
              </a:rPr>
              <a:t>第 3 层组合量化优势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0" y="2578608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87968" y="2532888"/>
            <a:ext cx="25603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F374F"/>
                </a:solidFill>
                <a:latin typeface="WenQuanYi Zen Hei"/>
              </a:rPr>
              <a:t>总体趋势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7968" y="2807208"/>
            <a:ext cx="25603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8525E"/>
                </a:solidFill>
                <a:latin typeface="WenQuanYi Zen Hei"/>
              </a:rPr>
              <a:t>随着 RK3588 执行层数增加，各方案推理速度均下降。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0" y="3602736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87968" y="3557016"/>
            <a:ext cx="25603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F374F"/>
                </a:solidFill>
                <a:latin typeface="WenQuanYi Zen Hei"/>
              </a:rPr>
              <a:t>组合更稳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7968" y="3831336"/>
            <a:ext cx="25603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8525E"/>
                </a:solidFill>
                <a:latin typeface="WenQuanYi Zen Hei"/>
              </a:rPr>
              <a:t>第 3 层时 FNN+lm_head 为 3.24 tokens/s，单独 lm_head 为 2.39 tokens/s。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0" y="4626864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87968" y="4581144"/>
            <a:ext cx="25603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F374F"/>
                </a:solidFill>
                <a:latin typeface="WenQuanYi Zen Hei"/>
              </a:rPr>
              <a:t>优化价值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7968" y="4855464"/>
            <a:ext cx="25603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8525E"/>
                </a:solidFill>
                <a:latin typeface="WenQuanYi Zen Hei"/>
              </a:rPr>
              <a:t>量化范围扩大后，深层卸载造成的性能衰减明显减缓。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" y="6236208"/>
            <a:ext cx="11448288" cy="38404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6263640"/>
            <a:ext cx="1101852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F374F"/>
                </a:solidFill>
                <a:latin typeface="WenQuanYi Zen Hei"/>
              </a:rPr>
              <a:t>部署建议：需要向 RK3588 卸载多层时，优先采用 FNN 与 lm_head 组合量化。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9768" y="210312"/>
            <a:ext cx="384048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70AD47"/>
                </a:solidFill>
                <a:latin typeface="WenQuanYi Zen Hei"/>
              </a:rPr>
              <a:t>03  网络带宽敏感性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484632"/>
            <a:ext cx="1115568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F374F"/>
                </a:solidFill>
                <a:latin typeface="WenQuanYi Zen Hei"/>
              </a:rPr>
              <a:t>首 token 延迟在低带宽区间急剧恶化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1097280"/>
            <a:ext cx="7790688" cy="4956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首tok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92075"/>
            <a:ext cx="7662672" cy="416645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39912" y="1097280"/>
            <a:ext cx="3401568" cy="495604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68512" y="1353312"/>
            <a:ext cx="2944368" cy="932688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51392" y="1389888"/>
            <a:ext cx="2578608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WenQuanYi Zen Hei"/>
              </a:rPr>
              <a:t>约 300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1392" y="1828800"/>
            <a:ext cx="2578608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WenQuanYi Zen Hei"/>
              </a:rPr>
              <a:t>0.1 Mb/s 时 TTFT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0" y="2578608"/>
            <a:ext cx="109728" cy="109728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87968" y="2532888"/>
            <a:ext cx="25603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F374F"/>
                </a:solidFill>
                <a:latin typeface="WenQuanYi Zen Hei"/>
              </a:rPr>
              <a:t>高带宽区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7968" y="2807208"/>
            <a:ext cx="25603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8525E"/>
                </a:solidFill>
                <a:latin typeface="WenQuanYi Zen Hei"/>
              </a:rPr>
              <a:t>100–10 Mb/s 时 TTFT 约为 4.6–9.5 s，增长相对温和。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0" y="3602736"/>
            <a:ext cx="109728" cy="109728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87968" y="3557016"/>
            <a:ext cx="25603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F374F"/>
                </a:solidFill>
                <a:latin typeface="WenQuanYi Zen Hei"/>
              </a:rPr>
              <a:t>临界区间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7968" y="3831336"/>
            <a:ext cx="25603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8525E"/>
                </a:solidFill>
                <a:latin typeface="WenQuanYi Zen Hei"/>
              </a:rPr>
              <a:t>降至 1 Mb/s 后 TTFT 跃升至 33–36 s，网络开销成为主要瓶颈。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0" y="4626864"/>
            <a:ext cx="109728" cy="109728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87968" y="4581144"/>
            <a:ext cx="25603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F374F"/>
                </a:solidFill>
                <a:latin typeface="WenQuanYi Zen Hei"/>
              </a:rPr>
              <a:t>极低带宽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7968" y="4855464"/>
            <a:ext cx="25603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8525E"/>
                </a:solidFill>
                <a:latin typeface="WenQuanYi Zen Hei"/>
              </a:rPr>
              <a:t>0.1 Mb/s 时各曲线收敛至约 300 s，层划分差异几乎被传输耗时淹没。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" y="6236208"/>
            <a:ext cx="11448288" cy="38404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6263640"/>
            <a:ext cx="1101852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F374F"/>
                </a:solidFill>
                <a:latin typeface="WenQuanYi Zen Hei"/>
              </a:rPr>
              <a:t>部署建议：低于 1 Mb/s 时应减少跨节点层划分或切换单机异构执行。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5B4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9768" y="210312"/>
            <a:ext cx="384048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5B4780"/>
                </a:solidFill>
                <a:latin typeface="WenQuanYi Zen Hei"/>
              </a:rPr>
              <a:t>04  解码吞吐敏感性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484632"/>
            <a:ext cx="1115568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F374F"/>
                </a:solidFill>
                <a:latin typeface="WenQuanYi Zen Hei"/>
              </a:rPr>
              <a:t>解码速度在 1 Mb/s 以上基本稳定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1097280"/>
            <a:ext cx="7790688" cy="4956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推理速度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37489"/>
            <a:ext cx="7662672" cy="447562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39912" y="1097280"/>
            <a:ext cx="3401568" cy="495604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68512" y="1353312"/>
            <a:ext cx="2944368" cy="932688"/>
          </a:xfrm>
          <a:prstGeom prst="roundRect">
            <a:avLst/>
          </a:prstGeom>
          <a:solidFill>
            <a:srgbClr val="5B4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51392" y="1389888"/>
            <a:ext cx="2578608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WenQuanYi Zen Hei"/>
              </a:rPr>
              <a:t>约 85%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1392" y="1828800"/>
            <a:ext cx="2578608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WenQuanYi Zen Hei"/>
              </a:rPr>
              <a:t>0.1 Mb/s 时吞吐降幅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0" y="2578608"/>
            <a:ext cx="109728" cy="109728"/>
          </a:xfrm>
          <a:prstGeom prst="ellipse">
            <a:avLst/>
          </a:prstGeom>
          <a:solidFill>
            <a:srgbClr val="5B4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87968" y="2532888"/>
            <a:ext cx="25603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F374F"/>
                </a:solidFill>
                <a:latin typeface="WenQuanYi Zen Hei"/>
              </a:rPr>
              <a:t>稳定区间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7968" y="2807208"/>
            <a:ext cx="25603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8525E"/>
                </a:solidFill>
                <a:latin typeface="WenQuanYi Zen Hei"/>
              </a:rPr>
              <a:t>100–1 Mb/s 内，配置 0 的速度仅由 4.34 降至 4.28 tokens/s。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0" y="3602736"/>
            <a:ext cx="109728" cy="109728"/>
          </a:xfrm>
          <a:prstGeom prst="ellipse">
            <a:avLst/>
          </a:prstGeom>
          <a:solidFill>
            <a:srgbClr val="5B4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87968" y="3557016"/>
            <a:ext cx="25603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F374F"/>
                </a:solidFill>
                <a:latin typeface="WenQuanYi Zen Hei"/>
              </a:rPr>
              <a:t>断崖下降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7968" y="3831336"/>
            <a:ext cx="25603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8525E"/>
                </a:solidFill>
                <a:latin typeface="WenQuanYi Zen Hei"/>
              </a:rPr>
              <a:t>0.1 Mb/s 时各配置仅约 0.61 tokens/s，通信完全主导逐 token 解码。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0" y="4626864"/>
            <a:ext cx="109728" cy="109728"/>
          </a:xfrm>
          <a:prstGeom prst="ellipse">
            <a:avLst/>
          </a:prstGeom>
          <a:solidFill>
            <a:srgbClr val="5B4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87968" y="4581144"/>
            <a:ext cx="25603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F374F"/>
                </a:solidFill>
                <a:latin typeface="WenQuanYi Zen Hei"/>
              </a:rPr>
              <a:t>层数影响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7968" y="4855464"/>
            <a:ext cx="25603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8525E"/>
                </a:solidFill>
                <a:latin typeface="WenQuanYi Zen Hei"/>
              </a:rPr>
              <a:t>RK3588 执行层数越多，正常带宽下基线吞吐越低；极低带宽时差异消失。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" y="6236208"/>
            <a:ext cx="11448288" cy="38404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6263640"/>
            <a:ext cx="1101852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F374F"/>
                </a:solidFill>
                <a:latin typeface="WenQuanYi Zen Hei"/>
              </a:rPr>
              <a:t>部署建议：交互式生成应保障至少 1 Mb/s 的有效链路带宽。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